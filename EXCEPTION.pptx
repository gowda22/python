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4" autoAdjust="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581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0F172A"/>
                </a:solidFill>
                <a:latin typeface="Aptos"/>
              </a:rPr>
              <a:t>EXCEPTION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67712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06B6D4"/>
                </a:solidFill>
                <a:latin typeface="Aptos"/>
              </a:rPr>
              <a:t>in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Aptos"/>
              </a:rPr>
              <a:t>Presented by Gowda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475569"/>
                </a:solidFill>
                <a:latin typeface="Aptos"/>
              </a:rPr>
              <a:t>Understand errors • handle them • keep programs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029200"/>
            <a:ext cx="1097280" cy="43891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5029200"/>
            <a:ext cx="1097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029200"/>
            <a:ext cx="1371600" cy="43891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5029200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except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5029200"/>
            <a:ext cx="1097280" cy="43891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5029200"/>
            <a:ext cx="1097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5029200"/>
            <a:ext cx="1371600" cy="438912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5029200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finally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1. What is an Exception?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A problem detected while the program is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4983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343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C2626"/>
                </a:solidFill>
                <a:latin typeface="Aptos"/>
              </a:rPr>
              <a:t>EXCEPTION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29768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• Occurs during program execution.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• Interrupts the normal flow of a program.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• We can handle it using exception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508760"/>
            <a:ext cx="5440680" cy="27432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0040" y="1851660"/>
            <a:ext cx="4928616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number = 10
print(number /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47288"/>
            <a:ext cx="4983480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3502152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E2E8F0"/>
                </a:solidFill>
                <a:latin typeface="Consolas"/>
              </a:rPr>
              <a:t>OUTPUT  →  </a:t>
            </a:r>
            <a:r>
              <a:rPr sz="1300" b="1" dirty="0" err="1">
                <a:solidFill>
                  <a:srgbClr val="E2E8F0"/>
                </a:solidFill>
                <a:latin typeface="Consolas"/>
              </a:rPr>
              <a:t>ZeroDivisionError</a:t>
            </a:r>
            <a:endParaRPr sz="1300" b="1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457200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Aptos"/>
              </a:rPr>
              <a:t>Without handling → program stops unexpectedly.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2. Why Do We Need Exception Handling?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The goal is to handle problems gracefully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DC2626"/>
                </a:solidFill>
                <a:latin typeface="Aptos"/>
              </a:rPr>
              <a:t>WITHOUT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526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• Program may stop suddenly.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• User may see </a:t>
            </a:r>
            <a:r>
              <a:rPr lang="en-IN" dirty="0"/>
              <a:t>a confusing</a:t>
            </a:r>
            <a:r>
              <a:rPr dirty="0"/>
              <a:t> error.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• Remaining code may not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6A34A"/>
                </a:solidFill>
                <a:latin typeface="Aptos"/>
              </a:rPr>
              <a:t>WITH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5262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• We can show a useful message.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• The program can respond safely.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rPr dirty="0"/>
              <a:t>• Normal flow can continue 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59267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1573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3. try and except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The basic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629400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17336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dirty="0">
                <a:solidFill>
                  <a:srgbClr val="FFFFFF"/>
                </a:solidFill>
                <a:latin typeface="Consolas"/>
              </a:rPr>
              <a:t>try:
    result = 10 / 0
except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ZeroDivisionError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:
    print("Cannot divide by zero")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093208"/>
            <a:ext cx="6172200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148072"/>
            <a:ext cx="5897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onsolas"/>
              </a:rPr>
              <a:t>OUTPUT  →  Cannot divide by zero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508760"/>
            <a:ext cx="38404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Aptos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514600"/>
            <a:ext cx="2971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1. Python enters try.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2. Error occurs.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3. Matching except runs.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  <a:latin typeface="Aptos"/>
              </a:defRPr>
            </a:pPr>
            <a:r>
              <a:t>• 4. Program handles the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4. Common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475569"/>
                </a:solidFill>
                <a:latin typeface="Aptos"/>
              </a:rPr>
              <a:t>Easy examples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Aptos"/>
              </a:rPr>
              <a:t>ZeroDivisionError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onsolas"/>
              </a:rPr>
              <a:t>10 /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737360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A580C"/>
                </a:solidFill>
                <a:latin typeface="Aptos"/>
              </a:rPr>
              <a:t>ValueError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onsolas"/>
              </a:rPr>
              <a:t>int('abc')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ptos"/>
              </a:rPr>
              <a:t>TypeError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onsolas"/>
              </a:rPr>
              <a:t>10 + '5'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120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886200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Aptos"/>
              </a:rPr>
              <a:t>IndexError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480560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Consolas"/>
              </a:rPr>
              <a:t>[1,2][5]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11573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tos"/>
              </a:rPr>
              <a:t>else and finally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326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475569"/>
                </a:solidFill>
                <a:latin typeface="Aptos"/>
              </a:rPr>
              <a:t>else runs when no exception occurs. finally runs whether an exception occurs or not.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486400" cy="3977639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try: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x = 10 / 2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print(x)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except ZeroDivisionError: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print("Error")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print("No error")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finally: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E2E8F0"/>
                </a:solidFill>
                <a:latin typeface="Consolas"/>
              </a:rPr>
              <a:t>    print("Done")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02400" y="1828800"/>
            <a:ext cx="4800600" cy="3977639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tlCol="0" anchor="ctr"/>
          <a:lstStyle/>
          <a:p>
            <a:pPr algn="ctr"/>
            <a:endParaRPr lang="en-IN" sz="1700" b="1" dirty="0">
              <a:solidFill>
                <a:srgbClr val="2563EB"/>
              </a:solidFill>
              <a:latin typeface="Aptos"/>
            </a:endParaRPr>
          </a:p>
          <a:p>
            <a:pPr algn="ctr"/>
            <a:r>
              <a:rPr sz="1700" b="1" dirty="0">
                <a:solidFill>
                  <a:srgbClr val="2563EB"/>
                </a:solidFill>
                <a:latin typeface="Aptos"/>
              </a:rPr>
              <a:t>OUTPUT</a:t>
            </a:r>
          </a:p>
          <a:p>
            <a:pPr>
              <a:spcAft>
                <a:spcPts val="0"/>
              </a:spcAft>
            </a:pPr>
            <a:endParaRPr lang="en-IN" sz="1700" dirty="0">
              <a:solidFill>
                <a:srgbClr val="1E293B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700" dirty="0">
                <a:solidFill>
                  <a:srgbClr val="1E293B"/>
                </a:solidFill>
                <a:latin typeface="Consolas"/>
              </a:rPr>
              <a:t>5.0</a:t>
            </a:r>
          </a:p>
          <a:p>
            <a:pPr>
              <a:spcAft>
                <a:spcPts val="0"/>
              </a:spcAft>
            </a:pPr>
            <a:r>
              <a:rPr sz="1700" dirty="0">
                <a:solidFill>
                  <a:srgbClr val="1E293B"/>
                </a:solidFill>
                <a:latin typeface="Consolas"/>
              </a:rPr>
              <a:t>No error</a:t>
            </a:r>
          </a:p>
          <a:p>
            <a:pPr>
              <a:spcAft>
                <a:spcPts val="0"/>
              </a:spcAft>
            </a:pPr>
            <a:r>
              <a:rPr sz="1700" dirty="0">
                <a:solidFill>
                  <a:srgbClr val="1E293B"/>
                </a:solidFill>
                <a:latin typeface="Consolas"/>
              </a:rPr>
              <a:t>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6. Complete Exception Handling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475569"/>
                </a:solidFill>
                <a:latin typeface="Aptos"/>
              </a:rPr>
              <a:t>Remember this simple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233172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Aptos"/>
              </a:rPr>
              <a:t>try
risky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3512" y="257860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0312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233172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DC2626"/>
                </a:solidFill>
                <a:latin typeface="Aptos"/>
              </a:rPr>
              <a:t>except
handle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257860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0312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233172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A34A"/>
                </a:solidFill>
                <a:latin typeface="Aptos"/>
              </a:rPr>
              <a:t>else
if no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257860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10312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45167" y="2331720"/>
            <a:ext cx="2103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EA580C"/>
                </a:solidFill>
                <a:latin typeface="Aptos"/>
              </a:rPr>
              <a:t>finally
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475569"/>
                </a:solidFill>
                <a:latin typeface="Aptos"/>
              </a:rPr>
              <a:t>Not every program needs all four blocks.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7. Handling Multiple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Different problems can have different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6903720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ptos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6391656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dirty="0">
                <a:solidFill>
                  <a:srgbClr val="FFFFFF"/>
                </a:solidFill>
                <a:latin typeface="Consolas"/>
              </a:rPr>
              <a:t>try:
    n = int(input("Enter a number: "))
    print(100 / n)
except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ValueError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:
    print("Please enter a number")
except </a:t>
            </a:r>
            <a:r>
              <a:rPr sz="1500" b="0" dirty="0" err="1">
                <a:solidFill>
                  <a:srgbClr val="FFFFFF"/>
                </a:solidFill>
                <a:latin typeface="Consolas"/>
              </a:rPr>
              <a:t>ZeroDivisionError</a:t>
            </a:r>
            <a:r>
              <a:rPr sz="1500" b="0" dirty="0">
                <a:solidFill>
                  <a:srgbClr val="FFFFFF"/>
                </a:solidFill>
                <a:latin typeface="Consolas"/>
              </a:rPr>
              <a:t>:
    print("Zero is not allowed")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38928"/>
            <a:ext cx="6446520" cy="5669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193792"/>
            <a:ext cx="6172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Consolas"/>
              </a:rPr>
              <a:t>OUTPUT  →  Depends on the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508760"/>
            <a:ext cx="36118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82880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Aptos"/>
              </a:rPr>
              <a:t>One 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42316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Aptos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8346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DC2626"/>
                </a:solidFill>
                <a:latin typeface="Aptos"/>
              </a:rPr>
              <a:t>Specific except blocks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4747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F172A"/>
                </a:solidFill>
                <a:latin typeface="Aptos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8620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6A34A"/>
                </a:solidFill>
                <a:latin typeface="Aptos"/>
              </a:rPr>
              <a:t>Clear message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620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98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9. Quick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515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One slide to remember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1148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1719072"/>
            <a:ext cx="1417320" cy="43891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19072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19072"/>
            <a:ext cx="8046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>Code that may cause an exception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468879"/>
            <a:ext cx="1417320" cy="438912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79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except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68879"/>
            <a:ext cx="8046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>Handles the exception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218687"/>
            <a:ext cx="1417320" cy="43891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218687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18687"/>
            <a:ext cx="8046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 dirty="0">
                <a:solidFill>
                  <a:srgbClr val="0F172A"/>
                </a:solidFill>
                <a:latin typeface="Aptos"/>
              </a:rPr>
              <a:t>Runs when no exception occurs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968496"/>
            <a:ext cx="1417320" cy="438912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968496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finally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968496"/>
            <a:ext cx="8046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>Runs whether error occurs or not</a:t>
            </a:r>
          </a:p>
        </p:txBody>
      </p:sp>
      <p:sp>
        <p:nvSpPr>
          <p:cNvPr id="19" name="Rounded Rectangle 18"/>
          <p:cNvSpPr/>
          <p:nvPr/>
        </p:nvSpPr>
        <p:spPr>
          <a:xfrm flipV="1">
            <a:off x="1005840" y="5157215"/>
            <a:ext cx="45719" cy="45719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14400" y="5925312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Exception handling = safer + clearer + more reliable programs.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620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047988"/>
            <a:ext cx="1088136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 dirty="0">
                <a:solidFill>
                  <a:srgbClr val="0F172A"/>
                </a:solidFill>
                <a:latin typeface="Aptos"/>
              </a:rPr>
              <a:t>THANK YOU! </a:t>
            </a:r>
            <a:endParaRPr sz="4200" b="1" dirty="0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2563EB"/>
                </a:solidFill>
                <a:latin typeface="Aptos"/>
              </a:rPr>
              <a:t>Presented by Gowda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926080"/>
            <a:ext cx="8503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48840" y="3246120"/>
            <a:ext cx="7863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0F172A"/>
                </a:solidFill>
                <a:latin typeface="Aptos"/>
              </a:rPr>
              <a:t>“An error is not the end of the program.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3749039"/>
            <a:ext cx="8046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It is a situation the program should know how to handle.”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16676"/>
            <a:ext cx="1078992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dirty="0">
                <a:solidFill>
                  <a:srgbClr val="EA580C"/>
                </a:solidFill>
                <a:latin typeface="Aptos"/>
              </a:rPr>
              <a:t>Questions?  •  Discussion? </a:t>
            </a:r>
            <a:r>
              <a:rPr lang="en-IN" sz="2200" b="1" dirty="0">
                <a:solidFill>
                  <a:srgbClr val="EA580C"/>
                </a:solidFill>
                <a:latin typeface="Aptos"/>
              </a:rPr>
              <a:t> </a:t>
            </a:r>
            <a:endParaRPr sz="2200" b="1" dirty="0">
              <a:solidFill>
                <a:srgbClr val="EA580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4144083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900" b="1" dirty="0">
                <a:solidFill>
                  <a:srgbClr val="0F172A"/>
                </a:solidFill>
                <a:latin typeface="Aptos Display"/>
              </a:rPr>
              <a:t>But I have a </a:t>
            </a:r>
            <a:r>
              <a:rPr sz="2900" b="1" dirty="0">
                <a:solidFill>
                  <a:srgbClr val="0F172A"/>
                </a:solidFill>
                <a:latin typeface="Aptos Display"/>
              </a:rPr>
              <a:t>QUESTIONS</a:t>
            </a:r>
            <a:r>
              <a:rPr lang="en-IN" sz="2900" b="1" dirty="0">
                <a:solidFill>
                  <a:srgbClr val="0F172A"/>
                </a:solidFill>
                <a:latin typeface="Aptos Display"/>
              </a:rPr>
              <a:t>…</a:t>
            </a:r>
            <a:endParaRPr sz="2900" b="1" dirty="0">
              <a:solidFill>
                <a:srgbClr val="0F172A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561320" cy="8412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1755648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746504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Aptos"/>
              </a:rPr>
              <a:t>Will the finally block run if there is an exception?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10561320" cy="8412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2807208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798064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Aptos"/>
              </a:rPr>
              <a:t>Can we use a try block without an except block?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03320"/>
            <a:ext cx="10561320" cy="8412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1051560" y="3858768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849624"/>
            <a:ext cx="54016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Aptos"/>
              </a:rPr>
              <a:t>Can we have multiple Except blocks for one try block? </a:t>
            </a:r>
            <a:endParaRPr sz="1800" b="1" dirty="0">
              <a:solidFill>
                <a:srgbClr val="1E293B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4754879"/>
            <a:ext cx="10561320" cy="84124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1560" y="4910327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901183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293B"/>
                </a:solidFill>
                <a:latin typeface="Aptos"/>
              </a:rPr>
              <a:t>Which block runs only when no exception occurs?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4120808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 dirty="0">
                <a:solidFill>
                  <a:srgbClr val="0F172A"/>
                </a:solidFill>
                <a:latin typeface="Aptos Display"/>
              </a:rPr>
              <a:t> QUESTIONS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33271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500" dirty="0">
                <a:solidFill>
                  <a:srgbClr val="475569"/>
                </a:solidFill>
                <a:latin typeface="Aptos"/>
              </a:rPr>
              <a:t>Now reveal the answers.</a:t>
            </a:r>
            <a:endParaRPr sz="1500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1024128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87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1. Will the finally block run if there is an exception?</a:t>
            </a:r>
          </a:p>
          <a:p>
            <a:pPr>
              <a:spcBef>
                <a:spcPts val="400"/>
              </a:spcBef>
            </a:pPr>
            <a:r>
              <a:rPr sz="1450" b="1">
                <a:solidFill>
                  <a:srgbClr val="2563EB"/>
                </a:solidFill>
                <a:latin typeface="Aptos"/>
              </a:rPr>
              <a:t>Answer: Yes. finally runs whether an exception occurs or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32888"/>
            <a:ext cx="10835640" cy="1024128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42616"/>
            <a:ext cx="10287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2. Can we use a try block without an except block?</a:t>
            </a:r>
          </a:p>
          <a:p>
            <a:pPr>
              <a:spcBef>
                <a:spcPts val="400"/>
              </a:spcBef>
            </a:pPr>
            <a:r>
              <a:rPr sz="1450" b="1">
                <a:solidFill>
                  <a:srgbClr val="DC2626"/>
                </a:solidFill>
                <a:latin typeface="Aptos"/>
              </a:rPr>
              <a:t>Answer: Yes. A try block can be followed by finally.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39896"/>
            <a:ext cx="10835640" cy="1024128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849624"/>
            <a:ext cx="10287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dirty="0">
                <a:solidFill>
                  <a:srgbClr val="1E293B"/>
                </a:solidFill>
                <a:latin typeface="Aptos"/>
              </a:rPr>
              <a:t>3. </a:t>
            </a:r>
            <a:r>
              <a:rPr lang="en-US" sz="1450" b="1" dirty="0">
                <a:solidFill>
                  <a:srgbClr val="1E293B"/>
                </a:solidFill>
                <a:latin typeface="Aptos"/>
              </a:rPr>
              <a:t>Can we have multiple Except blocks for one try block? </a:t>
            </a:r>
          </a:p>
          <a:p>
            <a:r>
              <a:rPr sz="1450" b="1" dirty="0">
                <a:solidFill>
                  <a:srgbClr val="16A34A"/>
                </a:solidFill>
                <a:latin typeface="Aptos"/>
              </a:rPr>
              <a:t>Answer</a:t>
            </a:r>
            <a:r>
              <a:rPr sz="1450" b="1">
                <a:solidFill>
                  <a:srgbClr val="16A34A"/>
                </a:solidFill>
                <a:latin typeface="Aptos"/>
              </a:rPr>
              <a:t>: </a:t>
            </a:r>
            <a:r>
              <a:rPr lang="en-US" sz="1450" b="1">
                <a:solidFill>
                  <a:srgbClr val="16A34A"/>
                </a:solidFill>
                <a:latin typeface="Aptos"/>
              </a:rPr>
              <a:t>Yes, we can have multiple `except` blocks to handle the different exceptions. </a:t>
            </a:r>
            <a:endParaRPr sz="1450" b="1" dirty="0">
              <a:solidFill>
                <a:srgbClr val="16A34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4946904"/>
            <a:ext cx="10835640" cy="1024128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056632"/>
            <a:ext cx="10287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E293B"/>
                </a:solidFill>
                <a:latin typeface="Aptos"/>
              </a:rPr>
              <a:t>4. Which block runs only when no exception occurs?</a:t>
            </a:r>
          </a:p>
          <a:p>
            <a:pPr>
              <a:spcBef>
                <a:spcPts val="400"/>
              </a:spcBef>
            </a:pPr>
            <a:r>
              <a:rPr sz="1450" b="1">
                <a:solidFill>
                  <a:srgbClr val="EA580C"/>
                </a:solidFill>
                <a:latin typeface="Aptos"/>
              </a:rPr>
              <a:t>Answer: The else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658</Words>
  <Application>Microsoft Office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14</cp:revision>
  <dcterms:created xsi:type="dcterms:W3CDTF">2013-01-27T09:14:16Z</dcterms:created>
  <dcterms:modified xsi:type="dcterms:W3CDTF">2026-09-24T11:05:17Z</dcterms:modified>
  <cp:category/>
</cp:coreProperties>
</file>